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4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63" autoAdjust="0"/>
    <p:restoredTop sz="94694"/>
  </p:normalViewPr>
  <p:slideViewPr>
    <p:cSldViewPr snapToGrid="0">
      <p:cViewPr varScale="1">
        <p:scale>
          <a:sx n="62" d="100"/>
          <a:sy n="62" d="100"/>
        </p:scale>
        <p:origin x="496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6691E-3D1C-420C-9FA8-7166C25738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5B81133-78CD-439C-B39A-E4F19BE0E79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Web-based portfolio analyser</a:t>
          </a:r>
          <a:endParaRPr lang="en-US"/>
        </a:p>
      </dgm:t>
    </dgm:pt>
    <dgm:pt modelId="{543D335A-4E13-4822-A7C5-151DE6B637F0}" type="parTrans" cxnId="{71822E60-9C48-4E08-A705-07D3AF173E44}">
      <dgm:prSet/>
      <dgm:spPr/>
      <dgm:t>
        <a:bodyPr/>
        <a:lstStyle/>
        <a:p>
          <a:endParaRPr lang="en-US"/>
        </a:p>
      </dgm:t>
    </dgm:pt>
    <dgm:pt modelId="{A7DDD348-1096-4AD2-AEEE-6422121EAB69}" type="sibTrans" cxnId="{71822E60-9C48-4E08-A705-07D3AF173E44}">
      <dgm:prSet/>
      <dgm:spPr/>
      <dgm:t>
        <a:bodyPr/>
        <a:lstStyle/>
        <a:p>
          <a:endParaRPr lang="en-US"/>
        </a:p>
      </dgm:t>
    </dgm:pt>
    <dgm:pt modelId="{B3863C29-4456-4E44-9431-D046ED08D0FF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 dirty="0"/>
            <a:t>Real-time market data integration </a:t>
          </a:r>
          <a:endParaRPr lang="en-US" dirty="0"/>
        </a:p>
      </dgm:t>
    </dgm:pt>
    <dgm:pt modelId="{F9664F0B-94F9-445D-A2DE-6BB9028A80D9}" type="parTrans" cxnId="{018632FC-AD1D-4D31-BE6D-D79535175C8F}">
      <dgm:prSet/>
      <dgm:spPr/>
      <dgm:t>
        <a:bodyPr/>
        <a:lstStyle/>
        <a:p>
          <a:endParaRPr lang="en-US"/>
        </a:p>
      </dgm:t>
    </dgm:pt>
    <dgm:pt modelId="{8FE0482E-AA7D-4EC1-A967-F1794DC14056}" type="sibTrans" cxnId="{018632FC-AD1D-4D31-BE6D-D79535175C8F}">
      <dgm:prSet/>
      <dgm:spPr/>
      <dgm:t>
        <a:bodyPr/>
        <a:lstStyle/>
        <a:p>
          <a:endParaRPr lang="en-US"/>
        </a:p>
      </dgm:t>
    </dgm:pt>
    <dgm:pt modelId="{D41A085A-6DBD-441D-B0A5-8E33AFDA824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AI-powered insights with GPT</a:t>
          </a:r>
          <a:endParaRPr lang="en-US"/>
        </a:p>
      </dgm:t>
    </dgm:pt>
    <dgm:pt modelId="{D0D30851-DDC6-4B19-A136-B546133214C2}" type="parTrans" cxnId="{DECD9C0C-9C54-4D1C-8E5E-45D105BFB089}">
      <dgm:prSet/>
      <dgm:spPr/>
      <dgm:t>
        <a:bodyPr/>
        <a:lstStyle/>
        <a:p>
          <a:endParaRPr lang="en-US"/>
        </a:p>
      </dgm:t>
    </dgm:pt>
    <dgm:pt modelId="{B2B9D91E-C1D2-4D44-BC53-4364C25D3899}" type="sibTrans" cxnId="{DECD9C0C-9C54-4D1C-8E5E-45D105BFB089}">
      <dgm:prSet/>
      <dgm:spPr/>
      <dgm:t>
        <a:bodyPr/>
        <a:lstStyle/>
        <a:p>
          <a:endParaRPr lang="en-US"/>
        </a:p>
      </dgm:t>
    </dgm:pt>
    <dgm:pt modelId="{2FF88264-17CB-42AF-81D5-75AAB43456A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Professional-grade risk metrics</a:t>
          </a:r>
          <a:endParaRPr lang="en-US"/>
        </a:p>
      </dgm:t>
    </dgm:pt>
    <dgm:pt modelId="{298596D2-706F-446D-B0A3-7F9210CEB2FF}" type="parTrans" cxnId="{978BFBEB-B6A8-4212-806C-4DECDCE206F8}">
      <dgm:prSet/>
      <dgm:spPr/>
      <dgm:t>
        <a:bodyPr/>
        <a:lstStyle/>
        <a:p>
          <a:endParaRPr lang="en-US"/>
        </a:p>
      </dgm:t>
    </dgm:pt>
    <dgm:pt modelId="{1513D90B-BE83-4731-9084-B4973A9959EB}" type="sibTrans" cxnId="{978BFBEB-B6A8-4212-806C-4DECDCE206F8}">
      <dgm:prSet/>
      <dgm:spPr/>
      <dgm:t>
        <a:bodyPr/>
        <a:lstStyle/>
        <a:p>
          <a:endParaRPr lang="en-US"/>
        </a:p>
      </dgm:t>
    </dgm:pt>
    <dgm:pt modelId="{1CE4904E-57CE-4F3E-844B-031E6BC10E35}" type="pres">
      <dgm:prSet presAssocID="{EE26691E-3D1C-420C-9FA8-7166C2573842}" presName="root" presStyleCnt="0">
        <dgm:presLayoutVars>
          <dgm:dir/>
          <dgm:resizeHandles val="exact"/>
        </dgm:presLayoutVars>
      </dgm:prSet>
      <dgm:spPr/>
    </dgm:pt>
    <dgm:pt modelId="{27E7CBC4-79ED-4838-A433-E448BEC9A467}" type="pres">
      <dgm:prSet presAssocID="{F5B81133-78CD-439C-B39A-E4F19BE0E790}" presName="compNode" presStyleCnt="0"/>
      <dgm:spPr/>
    </dgm:pt>
    <dgm:pt modelId="{99C8338C-BAA1-4DEE-A663-116D4A003223}" type="pres">
      <dgm:prSet presAssocID="{F5B81133-78CD-439C-B39A-E4F19BE0E790}" presName="bgRect" presStyleLbl="bgShp" presStyleIdx="0" presStyleCnt="4"/>
      <dgm:spPr/>
    </dgm:pt>
    <dgm:pt modelId="{03017A7D-579D-4A5D-A266-8A187B5A94E8}" type="pres">
      <dgm:prSet presAssocID="{F5B81133-78CD-439C-B39A-E4F19BE0E79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5029B49-641D-4A6C-9D93-EEB6A4BA839E}" type="pres">
      <dgm:prSet presAssocID="{F5B81133-78CD-439C-B39A-E4F19BE0E790}" presName="spaceRect" presStyleCnt="0"/>
      <dgm:spPr/>
    </dgm:pt>
    <dgm:pt modelId="{BE3C484A-A9F2-48AF-8B04-C3F2120EFC98}" type="pres">
      <dgm:prSet presAssocID="{F5B81133-78CD-439C-B39A-E4F19BE0E790}" presName="parTx" presStyleLbl="revTx" presStyleIdx="0" presStyleCnt="4">
        <dgm:presLayoutVars>
          <dgm:chMax val="0"/>
          <dgm:chPref val="0"/>
        </dgm:presLayoutVars>
      </dgm:prSet>
      <dgm:spPr/>
    </dgm:pt>
    <dgm:pt modelId="{454DC149-7549-412B-BAA4-7517179C40A4}" type="pres">
      <dgm:prSet presAssocID="{A7DDD348-1096-4AD2-AEEE-6422121EAB69}" presName="sibTrans" presStyleCnt="0"/>
      <dgm:spPr/>
    </dgm:pt>
    <dgm:pt modelId="{F213A078-001E-47AB-A883-6EFF6DF69377}" type="pres">
      <dgm:prSet presAssocID="{B3863C29-4456-4E44-9431-D046ED08D0FF}" presName="compNode" presStyleCnt="0"/>
      <dgm:spPr/>
    </dgm:pt>
    <dgm:pt modelId="{885C1519-EEF2-4538-AA9A-6FE2E965B482}" type="pres">
      <dgm:prSet presAssocID="{B3863C29-4456-4E44-9431-D046ED08D0FF}" presName="bgRect" presStyleLbl="bgShp" presStyleIdx="1" presStyleCnt="4"/>
      <dgm:spPr/>
    </dgm:pt>
    <dgm:pt modelId="{A9723308-83A5-414D-BA0A-2962FF97A3DE}" type="pres">
      <dgm:prSet presAssocID="{B3863C29-4456-4E44-9431-D046ED08D0F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D0DF66A-9428-462A-A2C7-BEB6F6006C55}" type="pres">
      <dgm:prSet presAssocID="{B3863C29-4456-4E44-9431-D046ED08D0FF}" presName="spaceRect" presStyleCnt="0"/>
      <dgm:spPr/>
    </dgm:pt>
    <dgm:pt modelId="{2A7E96CF-28F6-4636-AF9D-D037CBBE9DD7}" type="pres">
      <dgm:prSet presAssocID="{B3863C29-4456-4E44-9431-D046ED08D0FF}" presName="parTx" presStyleLbl="revTx" presStyleIdx="1" presStyleCnt="4">
        <dgm:presLayoutVars>
          <dgm:chMax val="0"/>
          <dgm:chPref val="0"/>
        </dgm:presLayoutVars>
      </dgm:prSet>
      <dgm:spPr/>
    </dgm:pt>
    <dgm:pt modelId="{C97A73E3-578A-4DB1-8E1E-1952E66A5976}" type="pres">
      <dgm:prSet presAssocID="{8FE0482E-AA7D-4EC1-A967-F1794DC14056}" presName="sibTrans" presStyleCnt="0"/>
      <dgm:spPr/>
    </dgm:pt>
    <dgm:pt modelId="{6B0274A0-1EE6-4F92-A309-224EA474499C}" type="pres">
      <dgm:prSet presAssocID="{D41A085A-6DBD-441D-B0A5-8E33AFDA8242}" presName="compNode" presStyleCnt="0"/>
      <dgm:spPr/>
    </dgm:pt>
    <dgm:pt modelId="{E4C39DE1-C5D6-4AD6-95C5-FE174C4595AF}" type="pres">
      <dgm:prSet presAssocID="{D41A085A-6DBD-441D-B0A5-8E33AFDA8242}" presName="bgRect" presStyleLbl="bgShp" presStyleIdx="2" presStyleCnt="4"/>
      <dgm:spPr/>
    </dgm:pt>
    <dgm:pt modelId="{C9312647-3634-47F0-8DDC-D7A36E218A41}" type="pres">
      <dgm:prSet presAssocID="{D41A085A-6DBD-441D-B0A5-8E33AFDA82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CC3006E-72B0-4341-99C4-68208A900EEB}" type="pres">
      <dgm:prSet presAssocID="{D41A085A-6DBD-441D-B0A5-8E33AFDA8242}" presName="spaceRect" presStyleCnt="0"/>
      <dgm:spPr/>
    </dgm:pt>
    <dgm:pt modelId="{99E8BF27-85AC-44AA-BB89-B32EFE6E026D}" type="pres">
      <dgm:prSet presAssocID="{D41A085A-6DBD-441D-B0A5-8E33AFDA8242}" presName="parTx" presStyleLbl="revTx" presStyleIdx="2" presStyleCnt="4">
        <dgm:presLayoutVars>
          <dgm:chMax val="0"/>
          <dgm:chPref val="0"/>
        </dgm:presLayoutVars>
      </dgm:prSet>
      <dgm:spPr/>
    </dgm:pt>
    <dgm:pt modelId="{55FE4447-E0F6-47CC-8DFE-3AAE8C07A352}" type="pres">
      <dgm:prSet presAssocID="{B2B9D91E-C1D2-4D44-BC53-4364C25D3899}" presName="sibTrans" presStyleCnt="0"/>
      <dgm:spPr/>
    </dgm:pt>
    <dgm:pt modelId="{5A37E504-9D92-443A-92E9-290D09EE05CA}" type="pres">
      <dgm:prSet presAssocID="{2FF88264-17CB-42AF-81D5-75AAB43456A6}" presName="compNode" presStyleCnt="0"/>
      <dgm:spPr/>
    </dgm:pt>
    <dgm:pt modelId="{954CE6F5-86A5-4480-864C-C5C6335AFC8C}" type="pres">
      <dgm:prSet presAssocID="{2FF88264-17CB-42AF-81D5-75AAB43456A6}" presName="bgRect" presStyleLbl="bgShp" presStyleIdx="3" presStyleCnt="4"/>
      <dgm:spPr/>
    </dgm:pt>
    <dgm:pt modelId="{8BD2FBB7-FF15-42BE-A4AD-51DB99713E4C}" type="pres">
      <dgm:prSet presAssocID="{2FF88264-17CB-42AF-81D5-75AAB43456A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bbon"/>
        </a:ext>
      </dgm:extLst>
    </dgm:pt>
    <dgm:pt modelId="{470DD15D-25FF-4075-85D9-3EEC3DB6EE4A}" type="pres">
      <dgm:prSet presAssocID="{2FF88264-17CB-42AF-81D5-75AAB43456A6}" presName="spaceRect" presStyleCnt="0"/>
      <dgm:spPr/>
    </dgm:pt>
    <dgm:pt modelId="{50DF9053-D809-4DF0-A765-0C8BF9A400BF}" type="pres">
      <dgm:prSet presAssocID="{2FF88264-17CB-42AF-81D5-75AAB43456A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ECD9C0C-9C54-4D1C-8E5E-45D105BFB089}" srcId="{EE26691E-3D1C-420C-9FA8-7166C2573842}" destId="{D41A085A-6DBD-441D-B0A5-8E33AFDA8242}" srcOrd="2" destOrd="0" parTransId="{D0D30851-DDC6-4B19-A136-B546133214C2}" sibTransId="{B2B9D91E-C1D2-4D44-BC53-4364C25D3899}"/>
    <dgm:cxn modelId="{C34AE825-F481-467D-939D-CD033768DF6E}" type="presOf" srcId="{D41A085A-6DBD-441D-B0A5-8E33AFDA8242}" destId="{99E8BF27-85AC-44AA-BB89-B32EFE6E026D}" srcOrd="0" destOrd="0" presId="urn:microsoft.com/office/officeart/2018/2/layout/IconVerticalSolidList"/>
    <dgm:cxn modelId="{71822E60-9C48-4E08-A705-07D3AF173E44}" srcId="{EE26691E-3D1C-420C-9FA8-7166C2573842}" destId="{F5B81133-78CD-439C-B39A-E4F19BE0E790}" srcOrd="0" destOrd="0" parTransId="{543D335A-4E13-4822-A7C5-151DE6B637F0}" sibTransId="{A7DDD348-1096-4AD2-AEEE-6422121EAB69}"/>
    <dgm:cxn modelId="{2920C875-7DD6-459D-BFEF-8C7E383BED39}" type="presOf" srcId="{EE26691E-3D1C-420C-9FA8-7166C2573842}" destId="{1CE4904E-57CE-4F3E-844B-031E6BC10E35}" srcOrd="0" destOrd="0" presId="urn:microsoft.com/office/officeart/2018/2/layout/IconVerticalSolidList"/>
    <dgm:cxn modelId="{EDC43D8E-4F93-4545-B013-53373BDA0BFE}" type="presOf" srcId="{B3863C29-4456-4E44-9431-D046ED08D0FF}" destId="{2A7E96CF-28F6-4636-AF9D-D037CBBE9DD7}" srcOrd="0" destOrd="0" presId="urn:microsoft.com/office/officeart/2018/2/layout/IconVerticalSolidList"/>
    <dgm:cxn modelId="{978BFBEB-B6A8-4212-806C-4DECDCE206F8}" srcId="{EE26691E-3D1C-420C-9FA8-7166C2573842}" destId="{2FF88264-17CB-42AF-81D5-75AAB43456A6}" srcOrd="3" destOrd="0" parTransId="{298596D2-706F-446D-B0A3-7F9210CEB2FF}" sibTransId="{1513D90B-BE83-4731-9084-B4973A9959EB}"/>
    <dgm:cxn modelId="{42B462F1-2716-4B13-89FF-CFAA6B7EB941}" type="presOf" srcId="{F5B81133-78CD-439C-B39A-E4F19BE0E790}" destId="{BE3C484A-A9F2-48AF-8B04-C3F2120EFC98}" srcOrd="0" destOrd="0" presId="urn:microsoft.com/office/officeart/2018/2/layout/IconVerticalSolidList"/>
    <dgm:cxn modelId="{76FD50F7-1313-4BA6-9B30-295185273D1C}" type="presOf" srcId="{2FF88264-17CB-42AF-81D5-75AAB43456A6}" destId="{50DF9053-D809-4DF0-A765-0C8BF9A400BF}" srcOrd="0" destOrd="0" presId="urn:microsoft.com/office/officeart/2018/2/layout/IconVerticalSolidList"/>
    <dgm:cxn modelId="{018632FC-AD1D-4D31-BE6D-D79535175C8F}" srcId="{EE26691E-3D1C-420C-9FA8-7166C2573842}" destId="{B3863C29-4456-4E44-9431-D046ED08D0FF}" srcOrd="1" destOrd="0" parTransId="{F9664F0B-94F9-445D-A2DE-6BB9028A80D9}" sibTransId="{8FE0482E-AA7D-4EC1-A967-F1794DC14056}"/>
    <dgm:cxn modelId="{DBE1CC18-7F68-4991-9201-7A3CDF1F9A48}" type="presParOf" srcId="{1CE4904E-57CE-4F3E-844B-031E6BC10E35}" destId="{27E7CBC4-79ED-4838-A433-E448BEC9A467}" srcOrd="0" destOrd="0" presId="urn:microsoft.com/office/officeart/2018/2/layout/IconVerticalSolidList"/>
    <dgm:cxn modelId="{95347FCE-4E08-4FC4-8796-EC5340132FD0}" type="presParOf" srcId="{27E7CBC4-79ED-4838-A433-E448BEC9A467}" destId="{99C8338C-BAA1-4DEE-A663-116D4A003223}" srcOrd="0" destOrd="0" presId="urn:microsoft.com/office/officeart/2018/2/layout/IconVerticalSolidList"/>
    <dgm:cxn modelId="{9A91F6BB-3F5A-4716-AAFC-C097D2D3965F}" type="presParOf" srcId="{27E7CBC4-79ED-4838-A433-E448BEC9A467}" destId="{03017A7D-579D-4A5D-A266-8A187B5A94E8}" srcOrd="1" destOrd="0" presId="urn:microsoft.com/office/officeart/2018/2/layout/IconVerticalSolidList"/>
    <dgm:cxn modelId="{31803B1A-85BF-42FE-BEF7-C87CD113837E}" type="presParOf" srcId="{27E7CBC4-79ED-4838-A433-E448BEC9A467}" destId="{C5029B49-641D-4A6C-9D93-EEB6A4BA839E}" srcOrd="2" destOrd="0" presId="urn:microsoft.com/office/officeart/2018/2/layout/IconVerticalSolidList"/>
    <dgm:cxn modelId="{7B2BFC90-3985-4001-81E3-15607543B52E}" type="presParOf" srcId="{27E7CBC4-79ED-4838-A433-E448BEC9A467}" destId="{BE3C484A-A9F2-48AF-8B04-C3F2120EFC98}" srcOrd="3" destOrd="0" presId="urn:microsoft.com/office/officeart/2018/2/layout/IconVerticalSolidList"/>
    <dgm:cxn modelId="{29754288-16CE-4BB4-8707-069A6E0C6249}" type="presParOf" srcId="{1CE4904E-57CE-4F3E-844B-031E6BC10E35}" destId="{454DC149-7549-412B-BAA4-7517179C40A4}" srcOrd="1" destOrd="0" presId="urn:microsoft.com/office/officeart/2018/2/layout/IconVerticalSolidList"/>
    <dgm:cxn modelId="{0F1A4391-2D8F-4C39-836E-AC6675C21685}" type="presParOf" srcId="{1CE4904E-57CE-4F3E-844B-031E6BC10E35}" destId="{F213A078-001E-47AB-A883-6EFF6DF69377}" srcOrd="2" destOrd="0" presId="urn:microsoft.com/office/officeart/2018/2/layout/IconVerticalSolidList"/>
    <dgm:cxn modelId="{B4E4D781-8E15-48BC-ABCB-D6C0BF491922}" type="presParOf" srcId="{F213A078-001E-47AB-A883-6EFF6DF69377}" destId="{885C1519-EEF2-4538-AA9A-6FE2E965B482}" srcOrd="0" destOrd="0" presId="urn:microsoft.com/office/officeart/2018/2/layout/IconVerticalSolidList"/>
    <dgm:cxn modelId="{DAF60FC1-1320-4920-BDC7-DC0401C9E994}" type="presParOf" srcId="{F213A078-001E-47AB-A883-6EFF6DF69377}" destId="{A9723308-83A5-414D-BA0A-2962FF97A3DE}" srcOrd="1" destOrd="0" presId="urn:microsoft.com/office/officeart/2018/2/layout/IconVerticalSolidList"/>
    <dgm:cxn modelId="{4C57B070-2C58-4E17-A205-910BB303803F}" type="presParOf" srcId="{F213A078-001E-47AB-A883-6EFF6DF69377}" destId="{4D0DF66A-9428-462A-A2C7-BEB6F6006C55}" srcOrd="2" destOrd="0" presId="urn:microsoft.com/office/officeart/2018/2/layout/IconVerticalSolidList"/>
    <dgm:cxn modelId="{2420CC87-66E3-4184-A1C0-BF233C1F12C1}" type="presParOf" srcId="{F213A078-001E-47AB-A883-6EFF6DF69377}" destId="{2A7E96CF-28F6-4636-AF9D-D037CBBE9DD7}" srcOrd="3" destOrd="0" presId="urn:microsoft.com/office/officeart/2018/2/layout/IconVerticalSolidList"/>
    <dgm:cxn modelId="{30D15274-1F03-4E54-88A0-5D54E24D619C}" type="presParOf" srcId="{1CE4904E-57CE-4F3E-844B-031E6BC10E35}" destId="{C97A73E3-578A-4DB1-8E1E-1952E66A5976}" srcOrd="3" destOrd="0" presId="urn:microsoft.com/office/officeart/2018/2/layout/IconVerticalSolidList"/>
    <dgm:cxn modelId="{82C30DF3-5EB4-47D9-8592-879BBD2CC19C}" type="presParOf" srcId="{1CE4904E-57CE-4F3E-844B-031E6BC10E35}" destId="{6B0274A0-1EE6-4F92-A309-224EA474499C}" srcOrd="4" destOrd="0" presId="urn:microsoft.com/office/officeart/2018/2/layout/IconVerticalSolidList"/>
    <dgm:cxn modelId="{6AEA7E45-FEBB-4AE4-A9CB-E876848609FC}" type="presParOf" srcId="{6B0274A0-1EE6-4F92-A309-224EA474499C}" destId="{E4C39DE1-C5D6-4AD6-95C5-FE174C4595AF}" srcOrd="0" destOrd="0" presId="urn:microsoft.com/office/officeart/2018/2/layout/IconVerticalSolidList"/>
    <dgm:cxn modelId="{7D0F5E70-D162-45C6-9606-AC90CBB2B28D}" type="presParOf" srcId="{6B0274A0-1EE6-4F92-A309-224EA474499C}" destId="{C9312647-3634-47F0-8DDC-D7A36E218A41}" srcOrd="1" destOrd="0" presId="urn:microsoft.com/office/officeart/2018/2/layout/IconVerticalSolidList"/>
    <dgm:cxn modelId="{10165D2E-7231-4F33-A814-67684F5C70CD}" type="presParOf" srcId="{6B0274A0-1EE6-4F92-A309-224EA474499C}" destId="{5CC3006E-72B0-4341-99C4-68208A900EEB}" srcOrd="2" destOrd="0" presId="urn:microsoft.com/office/officeart/2018/2/layout/IconVerticalSolidList"/>
    <dgm:cxn modelId="{1A22E5B7-C719-4C25-A58D-0AFAF84D6C3B}" type="presParOf" srcId="{6B0274A0-1EE6-4F92-A309-224EA474499C}" destId="{99E8BF27-85AC-44AA-BB89-B32EFE6E026D}" srcOrd="3" destOrd="0" presId="urn:microsoft.com/office/officeart/2018/2/layout/IconVerticalSolidList"/>
    <dgm:cxn modelId="{C8EEF2C1-1101-4306-A013-FA716A3E200D}" type="presParOf" srcId="{1CE4904E-57CE-4F3E-844B-031E6BC10E35}" destId="{55FE4447-E0F6-47CC-8DFE-3AAE8C07A352}" srcOrd="5" destOrd="0" presId="urn:microsoft.com/office/officeart/2018/2/layout/IconVerticalSolidList"/>
    <dgm:cxn modelId="{753509F1-BB07-4184-B46F-14C19687CF67}" type="presParOf" srcId="{1CE4904E-57CE-4F3E-844B-031E6BC10E35}" destId="{5A37E504-9D92-443A-92E9-290D09EE05CA}" srcOrd="6" destOrd="0" presId="urn:microsoft.com/office/officeart/2018/2/layout/IconVerticalSolidList"/>
    <dgm:cxn modelId="{32AE95C8-9316-4FEF-B7C4-D98431F5E854}" type="presParOf" srcId="{5A37E504-9D92-443A-92E9-290D09EE05CA}" destId="{954CE6F5-86A5-4480-864C-C5C6335AFC8C}" srcOrd="0" destOrd="0" presId="urn:microsoft.com/office/officeart/2018/2/layout/IconVerticalSolidList"/>
    <dgm:cxn modelId="{BD834D42-B0EF-4640-A468-B6E64A627BC5}" type="presParOf" srcId="{5A37E504-9D92-443A-92E9-290D09EE05CA}" destId="{8BD2FBB7-FF15-42BE-A4AD-51DB99713E4C}" srcOrd="1" destOrd="0" presId="urn:microsoft.com/office/officeart/2018/2/layout/IconVerticalSolidList"/>
    <dgm:cxn modelId="{DFC3FDCB-A5CE-4CD2-83CD-42A879BB87D1}" type="presParOf" srcId="{5A37E504-9D92-443A-92E9-290D09EE05CA}" destId="{470DD15D-25FF-4075-85D9-3EEC3DB6EE4A}" srcOrd="2" destOrd="0" presId="urn:microsoft.com/office/officeart/2018/2/layout/IconVerticalSolidList"/>
    <dgm:cxn modelId="{65BAFBF2-36AF-4B76-9E92-AB5C302DB41A}" type="presParOf" srcId="{5A37E504-9D92-443A-92E9-290D09EE05CA}" destId="{50DF9053-D809-4DF0-A765-0C8BF9A400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8338C-BAA1-4DEE-A663-116D4A003223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017A7D-579D-4A5D-A266-8A187B5A94E8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3C484A-A9F2-48AF-8B04-C3F2120EFC98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i="0" kern="1200"/>
            <a:t>Web-based portfolio analyser</a:t>
          </a:r>
          <a:endParaRPr lang="en-US" sz="2200" kern="1200"/>
        </a:p>
      </dsp:txBody>
      <dsp:txXfrm>
        <a:off x="1357965" y="2319"/>
        <a:ext cx="4887299" cy="1175727"/>
      </dsp:txXfrm>
    </dsp:sp>
    <dsp:sp modelId="{885C1519-EEF2-4538-AA9A-6FE2E965B482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23308-83A5-414D-BA0A-2962FF97A3DE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7E96CF-28F6-4636-AF9D-D037CBBE9DD7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i="0" kern="1200" dirty="0"/>
            <a:t>Real-time market data integration </a:t>
          </a:r>
          <a:endParaRPr lang="en-US" sz="2200" kern="1200" dirty="0"/>
        </a:p>
      </dsp:txBody>
      <dsp:txXfrm>
        <a:off x="1357965" y="1471979"/>
        <a:ext cx="4887299" cy="1175727"/>
      </dsp:txXfrm>
    </dsp:sp>
    <dsp:sp modelId="{E4C39DE1-C5D6-4AD6-95C5-FE174C4595AF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12647-3634-47F0-8DDC-D7A36E218A41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E8BF27-85AC-44AA-BB89-B32EFE6E026D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i="0" kern="1200"/>
            <a:t>AI-powered insights with GPT</a:t>
          </a:r>
          <a:endParaRPr lang="en-US" sz="2200" kern="1200"/>
        </a:p>
      </dsp:txBody>
      <dsp:txXfrm>
        <a:off x="1357965" y="2941639"/>
        <a:ext cx="4887299" cy="1175727"/>
      </dsp:txXfrm>
    </dsp:sp>
    <dsp:sp modelId="{954CE6F5-86A5-4480-864C-C5C6335AFC8C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2FBB7-FF15-42BE-A4AD-51DB99713E4C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F9053-D809-4DF0-A765-0C8BF9A400BF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0" i="0" kern="1200"/>
            <a:t>Professional-grade risk metrics</a:t>
          </a:r>
          <a:endParaRPr lang="en-US" sz="2200" kern="1200"/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2144F-C990-F328-68E1-370079AC2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BF8633-8D3E-FB34-CDB0-174E677C8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425B2-B52D-4D1F-6C5A-8B2D9103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27C4-79FE-88D1-C72D-A9375EC3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B1E4A-FFC7-5BE2-1D27-7F6F9329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57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9F379-4D05-DFFD-2F99-4744BF2D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3867-5C24-77F2-F26C-55213076D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43B65-A215-E399-90A8-278A301A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2E90-8481-E413-7BFC-231AED9FB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B34AE-D302-8AB4-CA91-EFDF37F1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084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695C-FA68-FEC3-D449-20C1F7F2F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B695C-37A1-91B8-E3D4-FE130F0FD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917E3-73B0-BD97-0A57-68AE1B1DB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F54E8-E71A-04C4-30C1-E6A9B464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49031-8F7B-B36D-7EB6-9D24D4877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3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564F-F66B-B2A6-3BBF-F72457049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281CE-4F14-4A12-1C16-22ECE331A0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927D0-C52C-C2D0-C1F8-16C3638EC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6076C-E310-D60F-E975-9180F409E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2D600-6F14-74BC-4B78-B82E05C4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E6C1B-4539-35C5-FCA8-EDDEE787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7786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9ADF8-02D5-FF3B-DF12-4E2274E8A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C7207-4925-7C83-21B0-09674DE9C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1D9A2-9E3D-267C-0B3B-10B0B8E87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FF8238-3893-5038-9D93-CF4A7BEEA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EF311A-EF3B-0252-9226-405B2248D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762C34-D05E-3A8F-A14F-F414CB6D7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76022-B9FD-70EA-4AFC-DB9AF8DA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1E6636-1E0A-E2E7-D7BA-BDF9E510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5105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47C03-7FAA-9F7E-23D1-9B5E1C59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81CB6D-AC43-0F3A-5B13-42B37C820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F8A10-5174-5548-264C-9BDE684A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76156-0C46-F8E8-FB2E-779B0C7F5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170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3DF3A6-2D72-9433-5612-277D0284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D2342-3FC5-F1C6-3AB9-438F4D96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7E217-8D23-6191-4E2F-A9152968B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434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8AFD-291C-8A07-A95D-EB018649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DEFA5-2318-E55B-5F93-ECE9959BA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A93709-4A1C-75B7-A0C3-49E68E5F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A237D-048C-3578-65B2-8B5E195C8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2455E-1056-999F-2975-005B6AE0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E2882-B3DD-67AC-E7BE-DF7B5CBA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681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A9D47-1184-25F6-2107-30B6DD06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F247FD-D37D-FDC1-A711-7AEB5E2D5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851DC3-0BAD-7D21-70BC-28F472832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42F18-94CA-76DE-F607-E0FC39AB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33471F-D7E5-3FAD-61F4-EA85710AD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B9BC6-B383-7EAA-0DA7-F4CC56AF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12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B360E-3AE2-C082-B6A4-DFC90907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9137F5-B233-A53A-B1CB-17DA63CD1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06FC8-C4C6-2983-91E4-F2DEE0B8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E9B75-5F60-AB80-6162-4BD1BB41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8AAAB-1F79-9A76-2C43-758710BA1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2885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74BE2D-0966-5279-AB63-30AD2002F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5C77B-2B30-9993-3399-2B6845E7A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BA09-00C5-8784-8203-21A84FB2D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63449-0487-8ACC-A9BB-A8686905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0C34A-3AD8-939B-FB2D-27D8581FB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11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A4F309-69E8-4134-0669-77BDC4B66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DB2B48-DCC9-6E0A-92CE-9018EF6D9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7B992-210A-8071-90E6-6FC4E43AB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12802D-5CA6-4D91-A0E7-40F29C1D6522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42A7B-2BC1-3A34-4690-3ABA18D8B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13C0E-E2BF-067E-CE6B-FF704AB65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4CC8B-386E-4159-8ACA-7BE3651EBD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74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E1F6F-9BFE-5362-3530-0217AA6A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460" y="1301892"/>
            <a:ext cx="4446324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5600" dirty="0">
                <a:solidFill>
                  <a:srgbClr val="FFFFFF"/>
                </a:solidFill>
              </a:rPr>
              <a:t>Portfolio diversification analysis app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08A4E-3743-D790-0819-6BCE39823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By Aminoor Rhaman &amp; Veronika Volodko  </a:t>
            </a:r>
          </a:p>
          <a:p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826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C50A9-7080-9BE1-A7E7-CFEFF744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1" y="381935"/>
            <a:ext cx="5640768" cy="5974414"/>
          </a:xfrm>
        </p:spPr>
        <p:txBody>
          <a:bodyPr anchor="ctr">
            <a:normAutofit/>
          </a:bodyPr>
          <a:lstStyle/>
          <a:p>
            <a:r>
              <a:rPr lang="en-GB" sz="8000" dirty="0">
                <a:solidFill>
                  <a:srgbClr val="FFFFFF"/>
                </a:solidFill>
              </a:rPr>
              <a:t>The Problem:</a:t>
            </a:r>
            <a:br>
              <a:rPr lang="en-GB" sz="8000" dirty="0">
                <a:solidFill>
                  <a:srgbClr val="FFFFFF"/>
                </a:solidFill>
              </a:rPr>
            </a:br>
            <a:r>
              <a:rPr lang="en-GB" sz="8000" dirty="0">
                <a:solidFill>
                  <a:srgbClr val="FFFFFF"/>
                </a:solidFill>
              </a:rPr>
              <a:t>Hidden Risks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C6D9-13C6-DAF2-3429-5282EA9F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23.5% Brits invest in stocks, but most don’t understand portfolio risk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Professional portfolio analysis is expensive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Target audience: students, retail investors </a:t>
            </a:r>
          </a:p>
          <a:p>
            <a:pPr marL="0" indent="0">
              <a:buNone/>
            </a:pP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59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38B687-C791-C7B0-576D-4B9FF100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GB" sz="7400"/>
              <a:t>Features of the current working prototype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840613-EEFF-A795-8A4B-4D1E9CAB3E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4101761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60240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A8824-788C-438D-E503-2DE7B59F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GB" sz="5600">
                <a:solidFill>
                  <a:srgbClr val="FFFFFF"/>
                </a:solidFill>
              </a:rPr>
              <a:t>How the application works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8AF37-0A44-ACBE-D362-53E843922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1. User enters holdings (ticker + shares).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2. Fetches live market data (Yahoo Finance).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3. Calculates risk metrics automatically.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4. GPT generates personalized analysis. </a:t>
            </a:r>
          </a:p>
          <a:p>
            <a:pPr marL="0" indent="0">
              <a:buNone/>
            </a:pPr>
            <a:br>
              <a:rPr lang="en-GB" sz="2000" dirty="0">
                <a:solidFill>
                  <a:schemeClr val="tx1">
                    <a:alpha val="80000"/>
                  </a:schemeClr>
                </a:solidFill>
              </a:rPr>
            </a:br>
            <a:endParaRPr lang="en-GB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08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D9C1D-F29B-B5BF-7428-99D347EB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7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Live demonstration of the application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971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393A4E-C335-F351-EED5-2AB0A647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GB" sz="5600">
                <a:solidFill>
                  <a:srgbClr val="FFFFFF"/>
                </a:solidFill>
              </a:rPr>
              <a:t>Future areas of development for the application</a:t>
            </a:r>
            <a:br>
              <a:rPr lang="en-GB" sz="5600">
                <a:solidFill>
                  <a:srgbClr val="FFFFFF"/>
                </a:solidFill>
              </a:rPr>
            </a:br>
            <a:endParaRPr lang="en-GB" sz="5600">
              <a:solidFill>
                <a:srgbClr val="FFFFFF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2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1A60-6555-230D-EBBF-1A1AF1BA0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Implement the option for the user to input when they bought a specific stock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Login system so that information can be saved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Give the option for users to add commodities, </a:t>
            </a:r>
            <a:r>
              <a:rPr lang="en-GB" sz="2000" dirty="0" err="1">
                <a:solidFill>
                  <a:schemeClr val="tx1">
                    <a:alpha val="80000"/>
                  </a:schemeClr>
                </a:solidFill>
              </a:rPr>
              <a:t>etfs</a:t>
            </a:r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 and cryptocurrency to the portfolio</a:t>
            </a:r>
          </a:p>
          <a:p>
            <a:r>
              <a:rPr lang="en-GB" sz="2000" dirty="0">
                <a:solidFill>
                  <a:schemeClr val="tx1">
                    <a:alpha val="80000"/>
                  </a:schemeClr>
                </a:solidFill>
              </a:rPr>
              <a:t>Beta &amp; correlation analysis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75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43060-2C20-5CEF-8B6A-57C29EEB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Final remarks</a:t>
            </a: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C71F07C9-F0CF-B5C3-C0BE-2D1F661CF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Chat">
            <a:extLst>
              <a:ext uri="{FF2B5EF4-FFF2-40B4-BE49-F238E27FC236}">
                <a16:creationId xmlns:a16="http://schemas.microsoft.com/office/drawing/2014/main" id="{7B089211-D46A-4E7F-AE8B-40160EE758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098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156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Portfolio diversification analysis app</vt:lpstr>
      <vt:lpstr>The Problem: Hidden Risks</vt:lpstr>
      <vt:lpstr>Features of the current working prototype</vt:lpstr>
      <vt:lpstr>How the application works</vt:lpstr>
      <vt:lpstr>Live demonstration of the application</vt:lpstr>
      <vt:lpstr>Future areas of development for the application </vt:lpstr>
      <vt:lpstr>Final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diversification analysis app</dc:title>
  <dc:creator>Aminoor Rhaman</dc:creator>
  <cp:lastModifiedBy>Aminoor Rhaman</cp:lastModifiedBy>
  <cp:revision>5</cp:revision>
  <dcterms:created xsi:type="dcterms:W3CDTF">2025-12-18T20:09:38Z</dcterms:created>
  <dcterms:modified xsi:type="dcterms:W3CDTF">2025-12-19T00:00:24Z</dcterms:modified>
</cp:coreProperties>
</file>